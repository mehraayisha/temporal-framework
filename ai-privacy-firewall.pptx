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9" r:id="rId3"/>
    <p:sldId id="263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88" r:id="rId12"/>
    <p:sldId id="289" r:id="rId13"/>
    <p:sldId id="304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82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00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267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21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17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18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5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241EB5C9-1307-BA42-ABA2-0BC069CD8E7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507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9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228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867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15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🛡️ AI Privacy Firewall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t>🛡️ AI Privacy Firewall: Enterprise-Grade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What It Is</a:t>
            </a:r>
          </a:p>
          <a:p>
            <a:pPr marL="0" lvl="0" indent="0">
              <a:buNone/>
            </a:pPr>
            <a:r>
              <a:rPr dirty="0"/>
              <a:t>An intelligent privacy protection system that sits between Large Language Models (LLMs) and sensitive organizational data, making context-aware decisions about information sharing.</a:t>
            </a:r>
          </a:p>
          <a:p>
            <a:pPr marL="0" lvl="0" indent="0">
              <a:buNone/>
            </a:pPr>
            <a:r>
              <a:rPr b="1" dirty="0"/>
              <a:t>Traditional Access Control:</a:t>
            </a:r>
            <a:r>
              <a:rPr dirty="0"/>
              <a:t> - Static rules ❌ - No understanding of org structure ❌ - Treats all requests the same ❌ - Binary yes/no decisions ❌</a:t>
            </a:r>
          </a:p>
          <a:p>
            <a:pPr marL="0" lvl="0" indent="0">
              <a:buNone/>
            </a:pPr>
            <a:r>
              <a:rPr b="1" dirty="0"/>
              <a:t>AI Privacy Firewall:</a:t>
            </a:r>
            <a:r>
              <a:rPr dirty="0"/>
              <a:t> - ✅ Understands organizational context (who reports to whom, project teams) - ✅ Understands semantic meaning (what data really means in different contexts) - ✅ Understands temporal dynamics (when access is appropriate, automatic expiry) - ✅ Makes nuanced decisions that adapt to real situations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The Result</a:t>
            </a:r>
          </a:p>
          <a:p>
            <a:pPr marL="0" lvl="0" indent="0">
              <a:buNone/>
            </a:pPr>
            <a:r>
              <a:rPr dirty="0"/>
              <a:t>Intelligent, context-aware decisions that: - </a:t>
            </a:r>
            <a:r>
              <a:rPr b="1" dirty="0"/>
              <a:t>Protect privacy</a:t>
            </a:r>
            <a:r>
              <a:rPr dirty="0"/>
              <a:t> when needed - </a:t>
            </a:r>
            <a:r>
              <a:rPr b="1" dirty="0"/>
              <a:t>Enable work</a:t>
            </a:r>
            <a:r>
              <a:rPr dirty="0"/>
              <a:t> when appropriate - </a:t>
            </a:r>
            <a:r>
              <a:rPr b="1" dirty="0"/>
              <a:t>Prevent errors</a:t>
            </a:r>
            <a:r>
              <a:rPr dirty="0"/>
              <a:t> through deep understanding - </a:t>
            </a:r>
            <a:r>
              <a:rPr b="1" dirty="0"/>
              <a:t>Enforce automatically</a:t>
            </a:r>
            <a:r>
              <a:rPr dirty="0"/>
              <a:t> without manual intervention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Classic 5-Tuple Access Control</a:t>
            </a:r>
          </a:p>
          <a:p>
            <a:pPr marL="0" lvl="0" indent="0">
              <a:buNone/>
            </a:pPr>
            <a:r>
              <a:rPr dirty="0"/>
              <a:t>Traditional systems ask 5 questions: 1. </a:t>
            </a:r>
            <a:r>
              <a:rPr b="1" dirty="0"/>
              <a:t>Who</a:t>
            </a:r>
            <a:r>
              <a:rPr dirty="0"/>
              <a:t> is requesting? (sender) 2. </a:t>
            </a:r>
            <a:r>
              <a:rPr b="1" dirty="0"/>
              <a:t>What</a:t>
            </a:r>
            <a:r>
              <a:rPr dirty="0"/>
              <a:t> data? (data type) 3. </a:t>
            </a:r>
            <a:r>
              <a:rPr b="1" dirty="0"/>
              <a:t>Whose</a:t>
            </a:r>
            <a:r>
              <a:rPr dirty="0"/>
              <a:t> data? (data subject) 4. </a:t>
            </a:r>
            <a:r>
              <a:rPr b="1" dirty="0"/>
              <a:t>Where</a:t>
            </a:r>
            <a:r>
              <a:rPr dirty="0"/>
              <a:t> does it go? (recipient) 5. </a:t>
            </a:r>
            <a:r>
              <a:rPr b="1" dirty="0"/>
              <a:t>Why</a:t>
            </a:r>
            <a:r>
              <a:rPr dirty="0"/>
              <a:t> is it needed? (transmission principle)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Missing Critical Dimensions:</a:t>
            </a:r>
          </a:p>
          <a:p>
            <a:pPr lvl="0"/>
            <a:r>
              <a:rPr dirty="0"/>
              <a:t>❌ </a:t>
            </a:r>
            <a:r>
              <a:rPr b="1" dirty="0"/>
              <a:t>Organizational relationships</a:t>
            </a:r>
            <a:r>
              <a:rPr dirty="0"/>
              <a:t> — Is this their manager?</a:t>
            </a:r>
          </a:p>
          <a:p>
            <a:pPr lvl="0"/>
            <a:r>
              <a:rPr dirty="0"/>
              <a:t>❌ </a:t>
            </a:r>
            <a:r>
              <a:rPr b="1" dirty="0"/>
              <a:t>Semantic understanding</a:t>
            </a:r>
            <a:r>
              <a:rPr dirty="0"/>
              <a:t> — Does “revenue” mean same thing in sales vs HR?</a:t>
            </a:r>
          </a:p>
          <a:p>
            <a:pPr lvl="0"/>
            <a:r>
              <a:rPr dirty="0"/>
              <a:t>❌ </a:t>
            </a:r>
            <a:r>
              <a:rPr b="1" dirty="0"/>
              <a:t>Temporal context</a:t>
            </a:r>
            <a:r>
              <a:rPr dirty="0"/>
              <a:t> — Is this an emergency? Has access expired?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🏗️ Integrated Privacy Firewall</a:t>
            </a:r>
          </a:p>
          <a:p>
            <a:pPr marL="0" lvl="0" indent="0">
              <a:buNone/>
            </a:pPr>
            <a:r>
              <a:rPr b="1" dirty="0"/>
              <a:t>Pillar 1: Organizational Graph (Team B)</a:t>
            </a:r>
            <a:r>
              <a:rPr dirty="0"/>
              <a:t> - Neo4j org-chart database - Reporting relationships, departments, projects - Temporal roles (on-call, acting managers)</a:t>
            </a:r>
          </a:p>
          <a:p>
            <a:pPr marL="0" lvl="0" indent="0">
              <a:buNone/>
            </a:pPr>
            <a:r>
              <a:rPr b="1" dirty="0"/>
              <a:t>Pillar 2: Semantic Ontology (Team C)</a:t>
            </a:r>
            <a:r>
              <a:rPr dirty="0"/>
              <a:t> - RDF/OWL reasoning engine - Concept hierarchies, domain disambiguation - Automatic relationship inference</a:t>
            </a:r>
          </a:p>
          <a:p>
            <a:pPr marL="0" lvl="0" indent="0">
              <a:buNone/>
            </a:pPr>
            <a:r>
              <a:rPr b="1" dirty="0"/>
              <a:t>Pillar 3: Temporal Intelligence (Team A)</a:t>
            </a:r>
            <a:r>
              <a:rPr dirty="0"/>
              <a:t> - 6-tuple framework: adds “WHEN” dimension - Time windows, situation awareness - Automatic privilege expiry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Pillar 1 - Organizational Graph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Team B: Who Should Have Access?</a:t>
            </a:r>
          </a:p>
          <a:p>
            <a:pPr marL="0" lvl="0" indent="0">
              <a:buNone/>
            </a:pPr>
            <a:r>
              <a:rPr b="1" dirty="0"/>
              <a:t>Neo4j Org-Chart Database Integration</a:t>
            </a:r>
          </a:p>
          <a:p>
            <a:pPr marL="0" lvl="0" indent="0">
              <a:buNone/>
            </a:pPr>
            <a:r>
              <a:rPr dirty="0"/>
              <a:t>Understands: - ✅ Direct reports, skip-level managers, dotted-line - ✅ Department boundaries and data domains - ✅ Active project team memberships - ✅ Temporal roles (on-call, acting positions)</a:t>
            </a:r>
          </a:p>
          <a:p>
            <a:pPr marL="0" lvl="0" indent="0">
              <a:buNone/>
            </a:pPr>
            <a:r>
              <a:rPr b="1" dirty="0"/>
              <a:t>Impact:</a:t>
            </a:r>
            <a:r>
              <a:rPr dirty="0"/>
              <a:t> - Eliminates 40 hours/month manual maintenance - Auto-detects legitimate cross-team collaboration - Dynamic role-based access control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// Check if Alice reports to Bob
MATCH (</a:t>
            </a:r>
            <a:r>
              <a:rPr dirty="0" err="1">
                <a:latin typeface="Courier"/>
              </a:rPr>
              <a:t>alice:Person</a:t>
            </a:r>
            <a:r>
              <a:rPr dirty="0">
                <a:latin typeface="Courier"/>
              </a:rPr>
              <a:t>)-[:REPORTS_TO]-&gt;(</a:t>
            </a:r>
            <a:r>
              <a:rPr dirty="0" err="1">
                <a:latin typeface="Courier"/>
              </a:rPr>
              <a:t>bob:Person</a:t>
            </a:r>
            <a:r>
              <a:rPr dirty="0">
                <a:latin typeface="Courier"/>
              </a:rPr>
              <a:t>)
RETURN exists((</a:t>
            </a:r>
            <a:r>
              <a:rPr dirty="0" err="1">
                <a:latin typeface="Courier"/>
              </a:rPr>
              <a:t>alice</a:t>
            </a:r>
            <a:r>
              <a:rPr dirty="0">
                <a:latin typeface="Courier"/>
              </a:rPr>
              <a:t>)-[:REPORTS_TO]-&gt;(bob))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Pillar 2 - Semantic Ontology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Team C: What Does This Data Mean?</a:t>
            </a:r>
          </a:p>
          <a:p>
            <a:pPr marL="0" lvl="0" indent="0">
              <a:buNone/>
            </a:pPr>
            <a:r>
              <a:rPr b="1" dirty="0"/>
              <a:t>RDF/OWL Semantic Reasoning</a:t>
            </a:r>
          </a:p>
          <a:p>
            <a:pPr marL="0" lvl="0" indent="0">
              <a:buNone/>
            </a:pPr>
            <a:r>
              <a:rPr dirty="0"/>
              <a:t>Understands: - ✅ Concept hierarchies: </a:t>
            </a:r>
            <a:r>
              <a:rPr dirty="0" err="1">
                <a:latin typeface="Courier"/>
              </a:rPr>
              <a:t>TestResult</a:t>
            </a:r>
            <a:r>
              <a:rPr dirty="0">
                <a:latin typeface="Courier"/>
              </a:rPr>
              <a:t> ⊆ </a:t>
            </a:r>
            <a:r>
              <a:rPr dirty="0" err="1">
                <a:latin typeface="Courier"/>
              </a:rPr>
              <a:t>MedicalRecord</a:t>
            </a:r>
            <a:r>
              <a:rPr dirty="0">
                <a:latin typeface="Courier"/>
              </a:rPr>
              <a:t> ⊆ PHI</a:t>
            </a:r>
            <a:r>
              <a:rPr dirty="0"/>
              <a:t> - ✅ Domain context: “diagnosis” (medical) vs “diagnosis” (IT) - ✅ Equivalent terms: SSN, Social Security Number, TIN - ✅ Inferred relationships: Doctor → </a:t>
            </a:r>
            <a:r>
              <a:rPr dirty="0" err="1"/>
              <a:t>MedicalRecord</a:t>
            </a:r>
            <a:r>
              <a:rPr dirty="0"/>
              <a:t> → Diagnosis</a:t>
            </a:r>
          </a:p>
          <a:p>
            <a:pPr marL="0" lvl="0" indent="0">
              <a:buNone/>
            </a:pPr>
            <a:r>
              <a:rPr b="1" dirty="0"/>
              <a:t>Impact:</a:t>
            </a:r>
            <a:r>
              <a:rPr dirty="0"/>
              <a:t> - </a:t>
            </a:r>
            <a:r>
              <a:rPr b="1" dirty="0"/>
              <a:t>85% reduction in privacy errors</a:t>
            </a:r>
            <a:r>
              <a:rPr dirty="0"/>
              <a:t> - Context-aware semantic understanding - No brittle pattern matching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# Data derived from sensitive sources inherits sensitivity
CONSTRUCT { ?derived </a:t>
            </a:r>
            <a:r>
              <a:rPr dirty="0" err="1">
                <a:latin typeface="Courier"/>
              </a:rPr>
              <a:t>rdf:type</a:t>
            </a:r>
            <a:r>
              <a:rPr dirty="0">
                <a:latin typeface="Courier"/>
              </a:rPr>
              <a:t> :</a:t>
            </a:r>
            <a:r>
              <a:rPr dirty="0" err="1">
                <a:latin typeface="Courier"/>
              </a:rPr>
              <a:t>SensitiveData</a:t>
            </a:r>
            <a:r>
              <a:rPr dirty="0">
                <a:latin typeface="Courier"/>
              </a:rPr>
              <a:t> }
WHERE { ?derived :</a:t>
            </a:r>
            <a:r>
              <a:rPr dirty="0" err="1">
                <a:latin typeface="Courier"/>
              </a:rPr>
              <a:t>derivedFrom</a:t>
            </a:r>
            <a:r>
              <a:rPr dirty="0">
                <a:latin typeface="Courier"/>
              </a:rPr>
              <a:t> ?source .
        ?source </a:t>
            </a:r>
            <a:r>
              <a:rPr dirty="0" err="1">
                <a:latin typeface="Courier"/>
              </a:rPr>
              <a:t>rdf:type</a:t>
            </a:r>
            <a:r>
              <a:rPr dirty="0">
                <a:latin typeface="Courier"/>
              </a:rPr>
              <a:t> :</a:t>
            </a:r>
            <a:r>
              <a:rPr dirty="0" err="1">
                <a:latin typeface="Courier"/>
              </a:rPr>
              <a:t>SensitiveData</a:t>
            </a:r>
            <a:r>
              <a:rPr dirty="0">
                <a:latin typeface="Courier"/>
              </a:rPr>
              <a:t> .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Pillar 3 - Temporal Intelligence (Our Work)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Team A: When Is Access Appropriate?</a:t>
            </a:r>
          </a:p>
          <a:p>
            <a:pPr marL="0" lvl="0" indent="0">
              <a:buNone/>
            </a:pPr>
            <a:r>
              <a:rPr b="1" dirty="0"/>
              <a:t>From 5-Tuple to 6-Tuple</a:t>
            </a:r>
          </a:p>
          <a:p>
            <a:pPr marL="0" lvl="0" indent="0">
              <a:buNone/>
            </a:pPr>
            <a:r>
              <a:rPr dirty="0"/>
              <a:t>Classic: </a:t>
            </a:r>
            <a:r>
              <a:rPr dirty="0">
                <a:latin typeface="Courier"/>
              </a:rPr>
              <a:t>(who, what, whose, where, why)</a:t>
            </a:r>
            <a:br>
              <a:rPr dirty="0"/>
            </a:br>
            <a:r>
              <a:rPr dirty="0"/>
              <a:t>Enhanced: </a:t>
            </a:r>
            <a:r>
              <a:rPr dirty="0">
                <a:latin typeface="Courier"/>
              </a:rPr>
              <a:t>(who, what, whose, where, why, WHEN)</a:t>
            </a:r>
          </a:p>
          <a:p>
            <a:pPr marL="0" lvl="0" indent="0">
              <a:buNone/>
            </a:pPr>
            <a:r>
              <a:rPr b="1" dirty="0"/>
              <a:t>The WHEN Dimension:</a:t>
            </a:r>
            <a:r>
              <a:rPr dirty="0"/>
              <a:t> - ⏰ </a:t>
            </a:r>
            <a:r>
              <a:rPr b="1" dirty="0"/>
              <a:t>Time Windows</a:t>
            </a:r>
            <a:r>
              <a:rPr dirty="0"/>
              <a:t> — Explicit start/end timestamps - 🚨 </a:t>
            </a:r>
            <a:r>
              <a:rPr b="1" dirty="0"/>
              <a:t>Situation</a:t>
            </a:r>
            <a:r>
              <a:rPr dirty="0"/>
              <a:t> — EMERGENCY / AUDIT / NORMAL - 👤 </a:t>
            </a:r>
            <a:r>
              <a:rPr b="1" dirty="0"/>
              <a:t>Temporal Roles</a:t>
            </a:r>
            <a:r>
              <a:rPr dirty="0"/>
              <a:t> — on-call, acting positions - ⏳ </a:t>
            </a:r>
            <a:r>
              <a:rPr b="1" dirty="0"/>
              <a:t>Auto-Expiry</a:t>
            </a:r>
            <a:r>
              <a:rPr dirty="0"/>
              <a:t> — Guaranteed privilege decay</a:t>
            </a:r>
          </a:p>
          <a:p>
            <a:pPr marL="0" lvl="0" indent="0">
              <a:buNone/>
            </a:pPr>
            <a:r>
              <a:rPr b="1" dirty="0"/>
              <a:t>Impact:</a:t>
            </a:r>
            <a:r>
              <a:rPr dirty="0"/>
              <a:t> - </a:t>
            </a:r>
            <a:r>
              <a:rPr b="1" dirty="0"/>
              <a:t>67% reduction</a:t>
            </a:r>
            <a:r>
              <a:rPr dirty="0"/>
              <a:t> in inappropriate denials - </a:t>
            </a:r>
            <a:r>
              <a:rPr b="1" dirty="0"/>
              <a:t>Zero manual overrides</a:t>
            </a:r>
            <a:r>
              <a:rPr dirty="0"/>
              <a:t> for emergencies - </a:t>
            </a:r>
            <a:r>
              <a:rPr b="1" dirty="0"/>
              <a:t>100% automatic expiry</a:t>
            </a:r>
            <a:r>
              <a:rPr dirty="0"/>
              <a:t> for temp access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Temporal Enhancement Implementation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t>Team A: How We Enhanced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359876"/>
            <a:ext cx="7633286" cy="3337169"/>
          </a:xfrm>
        </p:spPr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b="1" dirty="0"/>
              <a:t>From 5-Tuple to 6-Tuple Framework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What We Built:</a:t>
            </a:r>
          </a:p>
          <a:p>
            <a:pPr marL="0" lvl="0" indent="0">
              <a:buNone/>
            </a:pPr>
            <a:r>
              <a:rPr b="1" dirty="0"/>
              <a:t>1. Temporal Context Enrichment Engine</a:t>
            </a:r>
            <a:r>
              <a:rPr dirty="0"/>
              <a:t> - Integrates with Neo4j org graph (Team B) - Extracts temporal roles and relationships - Builds complete context profiles</a:t>
            </a:r>
          </a:p>
          <a:p>
            <a:pPr marL="0" lvl="0" indent="0">
              <a:buNone/>
            </a:pPr>
            <a:r>
              <a:rPr b="1" dirty="0"/>
              <a:t>2. Situation-Aware Decision Logic</a:t>
            </a:r>
            <a:r>
              <a:rPr dirty="0"/>
              <a:t> - EMERGENCY mode for critical access - AUDIT mode for scheduled reviews - NORMAL mode for routine requests</a:t>
            </a:r>
          </a:p>
          <a:p>
            <a:pPr marL="0" lvl="0" indent="0">
              <a:buNone/>
            </a:pPr>
            <a:r>
              <a:rPr b="1" dirty="0"/>
              <a:t>3. Time-Window Management</a:t>
            </a:r>
            <a:r>
              <a:rPr dirty="0"/>
              <a:t> - Auto-calculating access windows - Start/end timestamp tracking - Guaranteed privilege expiry</a:t>
            </a:r>
          </a:p>
          <a:p>
            <a:pPr marL="0" lvl="0" indent="0">
              <a:buNone/>
            </a:pPr>
            <a:r>
              <a:rPr b="1" dirty="0"/>
              <a:t>4. Confidence-Based Evaluation</a:t>
            </a:r>
            <a:r>
              <a:rPr dirty="0"/>
              <a:t> - Risk scoring per request - Fallback strategies (ALLOW_WITH_AUDIT) - Resilience guarantees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Integration Points:</a:t>
            </a:r>
          </a:p>
          <a:p>
            <a:pPr lvl="0"/>
            <a:r>
              <a:rPr b="1" dirty="0"/>
              <a:t>Neo4j (Team B):</a:t>
            </a:r>
            <a:r>
              <a:rPr dirty="0"/>
              <a:t> Reporting relationships, departments, projects</a:t>
            </a:r>
          </a:p>
          <a:p>
            <a:pPr lvl="0"/>
            <a:r>
              <a:rPr b="1" dirty="0"/>
              <a:t>Ontology (Team C):</a:t>
            </a:r>
            <a:r>
              <a:rPr dirty="0"/>
              <a:t> Semantic classification, sensitivity levels</a:t>
            </a:r>
          </a:p>
          <a:p>
            <a:pPr lvl="0"/>
            <a:r>
              <a:rPr b="1" dirty="0"/>
              <a:t>Policy Engine:</a:t>
            </a:r>
            <a:r>
              <a:rPr dirty="0"/>
              <a:t> Decision rules + temporal constraints</a:t>
            </a:r>
          </a:p>
          <a:p>
            <a:pPr lvl="0"/>
            <a:r>
              <a:rPr b="1" dirty="0"/>
              <a:t>Audit Trail:</a:t>
            </a:r>
            <a:r>
              <a:rPr dirty="0"/>
              <a:t> Complete request-to-decision logging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12</TotalTime>
  <Words>840</Words>
  <Application>Microsoft Office PowerPoint</Application>
  <PresentationFormat>On-screen Show (16:9)</PresentationFormat>
  <Paragraphs>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Calibri Light</vt:lpstr>
      <vt:lpstr>Courier</vt:lpstr>
      <vt:lpstr>Retrospect</vt:lpstr>
      <vt:lpstr>🛡️ AI Privacy Firewall</vt:lpstr>
      <vt:lpstr>🛡️ AI Privacy Firewall: Enterprise-Grade Intelligence</vt:lpstr>
      <vt:lpstr>PowerPoint Presentation</vt:lpstr>
      <vt:lpstr>PowerPoint Presentation</vt:lpstr>
      <vt:lpstr>Pillar 1 - Organizational Graph Integration</vt:lpstr>
      <vt:lpstr>PowerPoint Presentation</vt:lpstr>
      <vt:lpstr>Pillar 2 - Semantic Ontology Integration</vt:lpstr>
      <vt:lpstr>PowerPoint Presentation</vt:lpstr>
      <vt:lpstr>Pillar 3 - Temporal Intelligence (Our Work)</vt:lpstr>
      <vt:lpstr>PowerPoint Presentation</vt:lpstr>
      <vt:lpstr>Temporal Enhancement Implementation</vt:lpstr>
      <vt:lpstr>Team A: How We Enhanced the System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mehra ayisha</cp:lastModifiedBy>
  <cp:revision>2</cp:revision>
  <dcterms:created xsi:type="dcterms:W3CDTF">2025-12-21T19:23:19Z</dcterms:created>
  <dcterms:modified xsi:type="dcterms:W3CDTF">2025-12-22T03:43:58Z</dcterms:modified>
</cp:coreProperties>
</file>